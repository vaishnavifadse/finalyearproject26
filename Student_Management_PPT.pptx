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2" r:id="rId7"/>
    <p:sldId id="264" r:id="rId8"/>
    <p:sldId id="265" r:id="rId9"/>
    <p:sldId id="267" r:id="rId10"/>
    <p:sldId id="268" r:id="rId11"/>
    <p:sldId id="269" r:id="rId12"/>
    <p:sldId id="270"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9728" y="231648"/>
            <a:ext cx="8900160" cy="6626352"/>
          </a:xfrm>
        </p:spPr>
        <p:txBody>
          <a:bodyPr/>
          <a:lstStyle/>
          <a:p>
            <a:pPr marL="0" indent="0" algn="ctr">
              <a:buNone/>
              <a:defRPr sz="2000">
                <a:solidFill>
                  <a:srgbClr val="282828"/>
                </a:solidFill>
              </a:defRPr>
            </a:pPr>
            <a:r>
              <a:rPr lang="en-IN" sz="2000" b="1" dirty="0">
                <a:solidFill>
                  <a:srgbClr val="002060"/>
                </a:solidFill>
              </a:rPr>
              <a:t>Shiv Chhatrapati Shikshan Sanstha’s</a:t>
            </a:r>
          </a:p>
          <a:p>
            <a:pPr marL="0" indent="0" algn="ctr">
              <a:buNone/>
              <a:defRPr sz="2000">
                <a:solidFill>
                  <a:srgbClr val="282828"/>
                </a:solidFill>
              </a:defRPr>
            </a:pPr>
            <a:r>
              <a:rPr lang="en-US" sz="2000" b="1" dirty="0">
                <a:solidFill>
                  <a:srgbClr val="C00000"/>
                </a:solidFill>
              </a:rPr>
              <a:t>Rajarshi Shahu Mahavidyalaya (Autonomous), Latur </a:t>
            </a:r>
          </a:p>
          <a:p>
            <a:pPr marL="0" indent="0" algn="ctr">
              <a:buNone/>
              <a:defRPr sz="2000">
                <a:solidFill>
                  <a:srgbClr val="282828"/>
                </a:solidFill>
              </a:defRPr>
            </a:pPr>
            <a:r>
              <a:rPr lang="en-US" sz="2000" b="1" dirty="0"/>
              <a:t>Department of Information Technology</a:t>
            </a:r>
          </a:p>
          <a:p>
            <a:pPr marL="0" indent="0" algn="ctr">
              <a:buNone/>
              <a:defRPr sz="2000">
                <a:solidFill>
                  <a:srgbClr val="282828"/>
                </a:solidFill>
              </a:defRPr>
            </a:pPr>
            <a:endParaRPr lang="en-US" sz="2000" b="1" dirty="0"/>
          </a:p>
          <a:p>
            <a:pPr marL="0" indent="0" algn="ctr">
              <a:buNone/>
              <a:defRPr sz="2000">
                <a:solidFill>
                  <a:srgbClr val="282828"/>
                </a:solidFill>
              </a:defRPr>
            </a:pPr>
            <a:endParaRPr lang="en-US" sz="2000" b="1" dirty="0"/>
          </a:p>
          <a:p>
            <a:pPr marL="0" indent="0" algn="ctr">
              <a:buNone/>
              <a:defRPr sz="2000">
                <a:solidFill>
                  <a:srgbClr val="282828"/>
                </a:solidFill>
              </a:defRPr>
            </a:pPr>
            <a:endParaRPr lang="en-US" sz="2000" b="1" dirty="0"/>
          </a:p>
          <a:p>
            <a:pPr marL="0" indent="0" algn="ctr">
              <a:buNone/>
              <a:defRPr sz="2000">
                <a:solidFill>
                  <a:srgbClr val="282828"/>
                </a:solidFill>
              </a:defRPr>
            </a:pPr>
            <a:endParaRPr lang="en-US" sz="2000" b="1" dirty="0"/>
          </a:p>
          <a:p>
            <a:pPr marL="0" indent="0" algn="ctr">
              <a:buNone/>
              <a:defRPr sz="2000">
                <a:solidFill>
                  <a:srgbClr val="282828"/>
                </a:solidFill>
              </a:defRPr>
            </a:pPr>
            <a:endParaRPr lang="en-US" sz="2000" b="1" dirty="0"/>
          </a:p>
          <a:p>
            <a:pPr marL="0" indent="0" algn="ctr">
              <a:buNone/>
            </a:pPr>
            <a:r>
              <a:rPr lang="en-US" sz="2000" b="1" dirty="0"/>
              <a:t>Project Report on </a:t>
            </a:r>
            <a:endParaRPr lang="en-IN" sz="2000" dirty="0"/>
          </a:p>
          <a:p>
            <a:pPr marL="0" indent="0" algn="ctr">
              <a:buNone/>
            </a:pPr>
            <a:r>
              <a:rPr lang="en-US" sz="2000" b="1" dirty="0">
                <a:solidFill>
                  <a:srgbClr val="C00000"/>
                </a:solidFill>
              </a:rPr>
              <a:t>“STUDENT MANAGEMENT SYSTEM WITH RESULT ANALYSIS”                                                 Submitted by</a:t>
            </a:r>
            <a:endParaRPr lang="en-IN" sz="2000" dirty="0">
              <a:solidFill>
                <a:srgbClr val="C00000"/>
              </a:solidFill>
            </a:endParaRPr>
          </a:p>
          <a:p>
            <a:pPr marL="0" indent="0" algn="ctr">
              <a:buNone/>
            </a:pPr>
            <a:r>
              <a:rPr lang="en-US" sz="2000" b="1" dirty="0"/>
              <a:t>Shraddha Sunil Bansode                                   Payal Baliram Bansode</a:t>
            </a:r>
          </a:p>
          <a:p>
            <a:pPr marL="0" indent="0" algn="ctr">
              <a:buNone/>
              <a:defRPr sz="2000">
                <a:solidFill>
                  <a:srgbClr val="282828"/>
                </a:solidFill>
              </a:defRPr>
            </a:pPr>
            <a:r>
              <a:rPr lang="en-US" sz="2000" b="1" dirty="0"/>
              <a:t>Seat No: RES2663110                                          Seat No: RES2663109 </a:t>
            </a:r>
          </a:p>
          <a:p>
            <a:pPr marL="0" indent="0" algn="ctr">
              <a:buNone/>
              <a:defRPr sz="2000">
                <a:solidFill>
                  <a:srgbClr val="282828"/>
                </a:solidFill>
              </a:defRPr>
            </a:pPr>
            <a:r>
              <a:rPr lang="en-US" sz="2000" b="1" dirty="0"/>
              <a:t>  Roll  no:10                                                                  Roll  no:9</a:t>
            </a:r>
          </a:p>
          <a:p>
            <a:pPr marL="0" indent="0" algn="ctr">
              <a:buNone/>
              <a:defRPr sz="2000">
                <a:solidFill>
                  <a:srgbClr val="282828"/>
                </a:solidFill>
              </a:defRPr>
            </a:pPr>
            <a:r>
              <a:rPr lang="en-US" sz="2000" b="1" dirty="0"/>
              <a:t>Vaishnavi Nagnath Fadse</a:t>
            </a:r>
          </a:p>
          <a:p>
            <a:pPr marL="0" indent="0" algn="ctr">
              <a:buNone/>
              <a:defRPr sz="2000">
                <a:solidFill>
                  <a:srgbClr val="282828"/>
                </a:solidFill>
              </a:defRPr>
            </a:pPr>
            <a:r>
              <a:rPr lang="en-US" sz="2000" b="1" dirty="0"/>
              <a:t>Seat No: RES 2663157</a:t>
            </a:r>
          </a:p>
          <a:p>
            <a:pPr marL="0" indent="0" algn="ctr">
              <a:buNone/>
              <a:defRPr sz="2000">
                <a:solidFill>
                  <a:srgbClr val="282828"/>
                </a:solidFill>
              </a:defRPr>
            </a:pPr>
            <a:r>
              <a:rPr lang="en-US" sz="2000" b="1" dirty="0"/>
              <a:t>Roll no:55</a:t>
            </a:r>
          </a:p>
          <a:p>
            <a:pPr marL="0" indent="0" algn="ctr">
              <a:buNone/>
              <a:defRPr sz="2000">
                <a:solidFill>
                  <a:srgbClr val="282828"/>
                </a:solidFill>
              </a:defRPr>
            </a:pPr>
            <a:endParaRPr lang="en-US" sz="2000" b="1" dirty="0"/>
          </a:p>
          <a:p>
            <a:pPr marL="0" indent="0" algn="ctr">
              <a:buNone/>
              <a:defRPr sz="2000">
                <a:solidFill>
                  <a:srgbClr val="282828"/>
                </a:solidFill>
              </a:defRPr>
            </a:pPr>
            <a:endParaRPr lang="en-IN" b="1" dirty="0"/>
          </a:p>
        </p:txBody>
      </p:sp>
      <p:pic>
        <p:nvPicPr>
          <p:cNvPr id="5" name="Picture 4">
            <a:extLst>
              <a:ext uri="{FF2B5EF4-FFF2-40B4-BE49-F238E27FC236}">
                <a16:creationId xmlns:a16="http://schemas.microsoft.com/office/drawing/2014/main" id="{8C8730D2-39FB-860F-DADC-F3ABEBCD84D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58082" y="1307655"/>
            <a:ext cx="1617980" cy="177990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61682"/>
          </a:xfrm>
        </p:spPr>
        <p:txBody>
          <a:bodyPr/>
          <a:lstStyle/>
          <a:p>
            <a:r>
              <a:rPr sz="3600" b="1" dirty="0">
                <a:solidFill>
                  <a:srgbClr val="003366"/>
                </a:solidFill>
              </a:rPr>
              <a:t>Abstract</a:t>
            </a:r>
          </a:p>
        </p:txBody>
      </p:sp>
      <p:sp>
        <p:nvSpPr>
          <p:cNvPr id="3" name="Content Placeholder 2"/>
          <p:cNvSpPr>
            <a:spLocks noGrp="1"/>
          </p:cNvSpPr>
          <p:nvPr>
            <p:ph idx="1"/>
          </p:nvPr>
        </p:nvSpPr>
        <p:spPr>
          <a:xfrm>
            <a:off x="182880" y="1036320"/>
            <a:ext cx="8503920" cy="5547042"/>
          </a:xfrm>
        </p:spPr>
        <p:txBody>
          <a:bodyPr/>
          <a:lstStyle/>
          <a:p>
            <a:pPr marL="0" indent="0">
              <a:buNone/>
              <a:defRPr sz="2000">
                <a:solidFill>
                  <a:srgbClr val="282828"/>
                </a:solidFill>
              </a:defRPr>
            </a:pPr>
            <a:r>
              <a:rPr lang="en-IN" sz="2000" dirty="0"/>
              <a:t>The Student Management System with Result Analysis is a comprehensive web-based application designed to automate and streamline the administrative and academic workflows of educational institutions. In many traditional setups, student records, enrolment details, and academic grading are managed manually or through disconnected spreadsheets, leading to data redundancy, security risks, and a lack of real-time analytical insights.</a:t>
            </a:r>
          </a:p>
          <a:p>
            <a:pPr>
              <a:defRPr sz="2000">
                <a:solidFill>
                  <a:srgbClr val="282828"/>
                </a:solidFill>
              </a:defRPr>
            </a:pPr>
            <a:endParaRPr lang="en-US" dirty="0"/>
          </a:p>
          <a:p>
            <a:pPr>
              <a:defRPr sz="2000">
                <a:solidFill>
                  <a:srgbClr val="282828"/>
                </a:solidFill>
              </a:defRPr>
            </a:pPr>
            <a:r>
              <a:rPr b="1" dirty="0"/>
              <a:t>Web-based system for managing student records</a:t>
            </a:r>
          </a:p>
          <a:p>
            <a:pPr>
              <a:defRPr sz="2000">
                <a:solidFill>
                  <a:srgbClr val="282828"/>
                </a:solidFill>
              </a:defRPr>
            </a:pPr>
            <a:r>
              <a:rPr b="1" dirty="0"/>
              <a:t>Automates result calculation</a:t>
            </a:r>
          </a:p>
          <a:p>
            <a:pPr>
              <a:defRPr sz="2000">
                <a:solidFill>
                  <a:srgbClr val="282828"/>
                </a:solidFill>
              </a:defRPr>
            </a:pPr>
            <a:r>
              <a:rPr b="1" dirty="0"/>
              <a:t>Provides graphical result analysis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003366"/>
                </a:solidFill>
              </a:rPr>
              <a:t>Introduction</a:t>
            </a:r>
          </a:p>
        </p:txBody>
      </p:sp>
      <p:sp>
        <p:nvSpPr>
          <p:cNvPr id="3" name="Content Placeholder 2"/>
          <p:cNvSpPr>
            <a:spLocks noGrp="1"/>
          </p:cNvSpPr>
          <p:nvPr>
            <p:ph idx="1"/>
          </p:nvPr>
        </p:nvSpPr>
        <p:spPr/>
        <p:txBody>
          <a:bodyPr>
            <a:normAutofit/>
          </a:bodyPr>
          <a:lstStyle/>
          <a:p>
            <a:pPr marL="0" indent="0">
              <a:buNone/>
            </a:pPr>
            <a:r>
              <a:rPr lang="en-IN" b="1" dirty="0"/>
              <a:t> Project Overview</a:t>
            </a:r>
            <a:endParaRPr lang="en-IN" dirty="0"/>
          </a:p>
          <a:p>
            <a:pPr marL="0" indent="0">
              <a:buNone/>
            </a:pPr>
            <a:r>
              <a:rPr lang="en-IN" sz="2200" dirty="0"/>
              <a:t>The </a:t>
            </a:r>
            <a:r>
              <a:rPr lang="en-IN" sz="2200" b="1" dirty="0"/>
              <a:t>Student Management System with Result Analysis</a:t>
            </a:r>
            <a:r>
              <a:rPr lang="en-IN" sz="2200" dirty="0"/>
              <a:t> is a web-based application designed to modernize the way educational institutions handle student information and academic performance. In the current digital era, manual record-keeping is not only time-consuming but also prone to physical damage and human error. This project provides a centralized digital repository where student profiles, subject enrolments, and academic scores are managed efficiently.</a:t>
            </a:r>
          </a:p>
          <a:p>
            <a:pPr>
              <a:defRPr sz="2000">
                <a:solidFill>
                  <a:srgbClr val="282828"/>
                </a:solidFill>
              </a:defRPr>
            </a:pPr>
            <a:endParaRPr lang="en-US" dirty="0"/>
          </a:p>
          <a:p>
            <a:pPr>
              <a:defRPr sz="2000">
                <a:solidFill>
                  <a:srgbClr val="282828"/>
                </a:solidFill>
              </a:defRPr>
            </a:pPr>
            <a:r>
              <a:rPr b="1" dirty="0">
                <a:solidFill>
                  <a:srgbClr val="002060"/>
                </a:solidFill>
              </a:rPr>
              <a:t>Manual systems are slow and error-prone</a:t>
            </a:r>
          </a:p>
          <a:p>
            <a:pPr>
              <a:defRPr sz="2000">
                <a:solidFill>
                  <a:srgbClr val="282828"/>
                </a:solidFill>
              </a:defRPr>
            </a:pPr>
            <a:r>
              <a:rPr b="1" dirty="0">
                <a:solidFill>
                  <a:srgbClr val="002060"/>
                </a:solidFill>
              </a:rPr>
              <a:t>Need for automation and centralized data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003366"/>
                </a:solidFill>
              </a:rPr>
              <a:t>Objectives</a:t>
            </a:r>
          </a:p>
        </p:txBody>
      </p:sp>
      <p:sp>
        <p:nvSpPr>
          <p:cNvPr id="3" name="Content Placeholder 2"/>
          <p:cNvSpPr>
            <a:spLocks noGrp="1"/>
          </p:cNvSpPr>
          <p:nvPr>
            <p:ph idx="1"/>
          </p:nvPr>
        </p:nvSpPr>
        <p:spPr/>
        <p:txBody>
          <a:bodyPr>
            <a:normAutofit/>
          </a:bodyPr>
          <a:lstStyle/>
          <a:p>
            <a:pPr>
              <a:defRPr sz="2000">
                <a:solidFill>
                  <a:srgbClr val="282828"/>
                </a:solidFill>
              </a:defRPr>
            </a:pPr>
            <a:r>
              <a:rPr sz="2400" b="1" dirty="0"/>
              <a:t>Automate student result processing</a:t>
            </a:r>
          </a:p>
          <a:p>
            <a:pPr>
              <a:defRPr sz="2000">
                <a:solidFill>
                  <a:srgbClr val="282828"/>
                </a:solidFill>
              </a:defRPr>
            </a:pPr>
            <a:r>
              <a:rPr sz="2400" b="1" dirty="0"/>
              <a:t>Centralized database</a:t>
            </a:r>
          </a:p>
          <a:p>
            <a:pPr>
              <a:defRPr sz="2000">
                <a:solidFill>
                  <a:srgbClr val="282828"/>
                </a:solidFill>
              </a:defRPr>
            </a:pPr>
            <a:r>
              <a:rPr sz="2400" b="1" dirty="0"/>
              <a:t>Provide performance analysis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003366"/>
                </a:solidFill>
              </a:rPr>
              <a:t>Scope</a:t>
            </a:r>
          </a:p>
        </p:txBody>
      </p:sp>
      <p:sp>
        <p:nvSpPr>
          <p:cNvPr id="3" name="Content Placeholder 2"/>
          <p:cNvSpPr>
            <a:spLocks noGrp="1"/>
          </p:cNvSpPr>
          <p:nvPr>
            <p:ph idx="1"/>
          </p:nvPr>
        </p:nvSpPr>
        <p:spPr/>
        <p:txBody>
          <a:bodyPr>
            <a:normAutofit/>
          </a:bodyPr>
          <a:lstStyle/>
          <a:p>
            <a:pPr>
              <a:defRPr sz="2000">
                <a:solidFill>
                  <a:srgbClr val="282828"/>
                </a:solidFill>
              </a:defRPr>
            </a:pPr>
            <a:r>
              <a:rPr sz="2400" b="1" dirty="0"/>
              <a:t>Student registration and management</a:t>
            </a:r>
          </a:p>
          <a:p>
            <a:pPr>
              <a:defRPr sz="2000">
                <a:solidFill>
                  <a:srgbClr val="282828"/>
                </a:solidFill>
              </a:defRPr>
            </a:pPr>
            <a:r>
              <a:rPr sz="2400" b="1" dirty="0"/>
              <a:t>Marks entry and result generation</a:t>
            </a:r>
          </a:p>
          <a:p>
            <a:pPr>
              <a:defRPr sz="2000">
                <a:solidFill>
                  <a:srgbClr val="282828"/>
                </a:solidFill>
              </a:defRPr>
            </a:pPr>
            <a:r>
              <a:rPr sz="2400" b="1" dirty="0"/>
              <a:t>Basic login security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003366"/>
                </a:solidFill>
              </a:rPr>
              <a:t>Proposed System</a:t>
            </a:r>
          </a:p>
        </p:txBody>
      </p:sp>
      <p:sp>
        <p:nvSpPr>
          <p:cNvPr id="3" name="Content Placeholder 2"/>
          <p:cNvSpPr>
            <a:spLocks noGrp="1"/>
          </p:cNvSpPr>
          <p:nvPr>
            <p:ph idx="1"/>
          </p:nvPr>
        </p:nvSpPr>
        <p:spPr/>
        <p:txBody>
          <a:bodyPr>
            <a:normAutofit/>
          </a:bodyPr>
          <a:lstStyle/>
          <a:p>
            <a:pPr>
              <a:defRPr sz="2000">
                <a:solidFill>
                  <a:srgbClr val="282828"/>
                </a:solidFill>
              </a:defRPr>
            </a:pPr>
            <a:r>
              <a:rPr sz="2400" b="1" dirty="0"/>
              <a:t>Automated calculations</a:t>
            </a:r>
          </a:p>
          <a:p>
            <a:pPr>
              <a:defRPr sz="2000">
                <a:solidFill>
                  <a:srgbClr val="282828"/>
                </a:solidFill>
              </a:defRPr>
            </a:pPr>
            <a:r>
              <a:rPr sz="2400" b="1" dirty="0"/>
              <a:t>Secure database</a:t>
            </a:r>
          </a:p>
          <a:p>
            <a:pPr>
              <a:defRPr sz="2000">
                <a:solidFill>
                  <a:srgbClr val="282828"/>
                </a:solidFill>
              </a:defRPr>
            </a:pPr>
            <a:r>
              <a:rPr sz="2400" b="1" dirty="0"/>
              <a:t>Graphical charts for analysis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003366"/>
                </a:solidFill>
              </a:rPr>
              <a:t>System Architecture</a:t>
            </a:r>
          </a:p>
        </p:txBody>
      </p:sp>
      <p:sp>
        <p:nvSpPr>
          <p:cNvPr id="3" name="Content Placeholder 2"/>
          <p:cNvSpPr>
            <a:spLocks noGrp="1"/>
          </p:cNvSpPr>
          <p:nvPr>
            <p:ph idx="1"/>
          </p:nvPr>
        </p:nvSpPr>
        <p:spPr/>
        <p:txBody>
          <a:bodyPr>
            <a:normAutofit/>
          </a:bodyPr>
          <a:lstStyle/>
          <a:p>
            <a:pPr>
              <a:defRPr sz="2000">
                <a:solidFill>
                  <a:srgbClr val="282828"/>
                </a:solidFill>
              </a:defRPr>
            </a:pPr>
            <a:r>
              <a:rPr sz="2400" b="1" dirty="0"/>
              <a:t>3-Tier Architecture</a:t>
            </a:r>
          </a:p>
          <a:p>
            <a:pPr>
              <a:defRPr sz="2000">
                <a:solidFill>
                  <a:srgbClr val="282828"/>
                </a:solidFill>
              </a:defRPr>
            </a:pPr>
            <a:r>
              <a:rPr sz="2400" b="1" dirty="0"/>
              <a:t>Presentation Layer</a:t>
            </a:r>
          </a:p>
          <a:p>
            <a:pPr>
              <a:defRPr sz="2000">
                <a:solidFill>
                  <a:srgbClr val="282828"/>
                </a:solidFill>
              </a:defRPr>
            </a:pPr>
            <a:r>
              <a:rPr sz="2400" b="1" dirty="0"/>
              <a:t>Application Layer</a:t>
            </a:r>
          </a:p>
          <a:p>
            <a:pPr>
              <a:defRPr sz="2000">
                <a:solidFill>
                  <a:srgbClr val="282828"/>
                </a:solidFill>
              </a:defRPr>
            </a:pPr>
            <a:r>
              <a:rPr sz="2400" b="1" dirty="0"/>
              <a:t>Database Layer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003366"/>
                </a:solidFill>
              </a:rPr>
              <a:t>Database Design</a:t>
            </a:r>
          </a:p>
        </p:txBody>
      </p:sp>
      <p:sp>
        <p:nvSpPr>
          <p:cNvPr id="3" name="Content Placeholder 2"/>
          <p:cNvSpPr>
            <a:spLocks noGrp="1"/>
          </p:cNvSpPr>
          <p:nvPr>
            <p:ph idx="1"/>
          </p:nvPr>
        </p:nvSpPr>
        <p:spPr/>
        <p:txBody>
          <a:bodyPr>
            <a:normAutofit/>
          </a:bodyPr>
          <a:lstStyle/>
          <a:p>
            <a:pPr>
              <a:defRPr sz="2000">
                <a:solidFill>
                  <a:srgbClr val="282828"/>
                </a:solidFill>
              </a:defRPr>
            </a:pPr>
            <a:r>
              <a:rPr sz="2400" b="1" dirty="0"/>
              <a:t>Tables: Students, Marks, Subjects</a:t>
            </a:r>
          </a:p>
          <a:p>
            <a:pPr>
              <a:defRPr sz="2000">
                <a:solidFill>
                  <a:srgbClr val="282828"/>
                </a:solidFill>
              </a:defRPr>
            </a:pPr>
            <a:r>
              <a:rPr sz="2400" b="1" dirty="0"/>
              <a:t>Relationships using foreign keys</a:t>
            </a:r>
            <a:endParaRPr lang="en-US" sz="2400" b="1" dirty="0"/>
          </a:p>
          <a:p>
            <a:pPr marL="0" indent="0" algn="ctr">
              <a:buNone/>
              <a:defRPr sz="2000">
                <a:solidFill>
                  <a:srgbClr val="282828"/>
                </a:solidFill>
              </a:defRPr>
            </a:pPr>
            <a:endParaRPr lang="en-IN" sz="2800" b="1" dirty="0">
              <a:solidFill>
                <a:srgbClr val="003366"/>
              </a:solidFill>
            </a:endParaRPr>
          </a:p>
          <a:p>
            <a:pPr marL="0" indent="0" algn="ctr">
              <a:buNone/>
              <a:defRPr sz="2000">
                <a:solidFill>
                  <a:srgbClr val="282828"/>
                </a:solidFill>
              </a:defRPr>
            </a:pPr>
            <a:r>
              <a:rPr lang="en-IN" sz="2800" b="1" dirty="0">
                <a:solidFill>
                  <a:srgbClr val="003366"/>
                </a:solidFill>
              </a:rPr>
              <a:t>Implementation</a:t>
            </a:r>
          </a:p>
          <a:p>
            <a:pPr>
              <a:defRPr sz="2000">
                <a:solidFill>
                  <a:srgbClr val="282828"/>
                </a:solidFill>
              </a:defRPr>
            </a:pPr>
            <a:r>
              <a:rPr lang="en-IN" sz="2400" b="1" dirty="0"/>
              <a:t>Backend: Python Flask</a:t>
            </a:r>
          </a:p>
          <a:p>
            <a:pPr>
              <a:defRPr sz="2000">
                <a:solidFill>
                  <a:srgbClr val="282828"/>
                </a:solidFill>
              </a:defRPr>
            </a:pPr>
            <a:r>
              <a:rPr lang="en-IN" sz="2400" b="1" dirty="0"/>
              <a:t>Frontend: HTML, CSS, JavaScript</a:t>
            </a:r>
          </a:p>
          <a:p>
            <a:pPr>
              <a:defRPr sz="2000">
                <a:solidFill>
                  <a:srgbClr val="282828"/>
                </a:solidFill>
              </a:defRPr>
            </a:pPr>
            <a:r>
              <a:rPr lang="en-IN" sz="2400" b="1" dirty="0"/>
              <a:t>Database: MySQL</a:t>
            </a:r>
          </a:p>
          <a:p>
            <a:pPr marL="0" indent="0" algn="ctr">
              <a:buNone/>
              <a:defRPr sz="2000">
                <a:solidFill>
                  <a:srgbClr val="282828"/>
                </a:solidFill>
              </a:defRPr>
            </a:pPr>
            <a:endParaRPr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003366"/>
                </a:solidFill>
              </a:rPr>
              <a:t>Result Analysis</a:t>
            </a:r>
          </a:p>
        </p:txBody>
      </p:sp>
      <p:sp>
        <p:nvSpPr>
          <p:cNvPr id="3" name="Content Placeholder 2"/>
          <p:cNvSpPr>
            <a:spLocks noGrp="1"/>
          </p:cNvSpPr>
          <p:nvPr>
            <p:ph idx="1"/>
          </p:nvPr>
        </p:nvSpPr>
        <p:spPr/>
        <p:txBody>
          <a:bodyPr/>
          <a:lstStyle/>
          <a:p>
            <a:pPr>
              <a:defRPr sz="2000">
                <a:solidFill>
                  <a:srgbClr val="282828"/>
                </a:solidFill>
              </a:defRPr>
            </a:pPr>
            <a:r>
              <a:t>Bar charts and pie charts</a:t>
            </a:r>
          </a:p>
          <a:p>
            <a:pPr>
              <a:defRPr sz="2000">
                <a:solidFill>
                  <a:srgbClr val="282828"/>
                </a:solidFill>
              </a:defRPr>
            </a:pPr>
            <a:r>
              <a:t>Shows performance insights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003366"/>
                </a:solidFill>
              </a:rPr>
              <a:t>Conclusion</a:t>
            </a:r>
          </a:p>
        </p:txBody>
      </p:sp>
      <p:sp>
        <p:nvSpPr>
          <p:cNvPr id="3" name="Content Placeholder 2"/>
          <p:cNvSpPr>
            <a:spLocks noGrp="1"/>
          </p:cNvSpPr>
          <p:nvPr>
            <p:ph idx="1"/>
          </p:nvPr>
        </p:nvSpPr>
        <p:spPr/>
        <p:txBody>
          <a:bodyPr/>
          <a:lstStyle/>
          <a:p>
            <a:pPr>
              <a:defRPr sz="2000">
                <a:solidFill>
                  <a:srgbClr val="282828"/>
                </a:solidFill>
              </a:defRPr>
            </a:pPr>
            <a:r>
              <a:t>Reduces manual work</a:t>
            </a:r>
          </a:p>
          <a:p>
            <a:pPr>
              <a:defRPr sz="2000">
                <a:solidFill>
                  <a:srgbClr val="282828"/>
                </a:solidFill>
              </a:defRPr>
            </a:pPr>
            <a:r>
              <a:t>Improves accuracy</a:t>
            </a:r>
          </a:p>
          <a:p>
            <a:pPr>
              <a:defRPr sz="2000">
                <a:solidFill>
                  <a:srgbClr val="282828"/>
                </a:solidFill>
              </a:defRPr>
            </a:pPr>
            <a:r>
              <a:t>Provides better insights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b="1">
                <a:solidFill>
                  <a:srgbClr val="003366"/>
                </a:solidFill>
              </a:rPr>
              <a:t>Future Scope</a:t>
            </a:r>
          </a:p>
        </p:txBody>
      </p:sp>
      <p:sp>
        <p:nvSpPr>
          <p:cNvPr id="3" name="Content Placeholder 2"/>
          <p:cNvSpPr>
            <a:spLocks noGrp="1"/>
          </p:cNvSpPr>
          <p:nvPr>
            <p:ph idx="1"/>
          </p:nvPr>
        </p:nvSpPr>
        <p:spPr/>
        <p:txBody>
          <a:bodyPr/>
          <a:lstStyle/>
          <a:p>
            <a:pPr>
              <a:defRPr sz="2000">
                <a:solidFill>
                  <a:srgbClr val="282828"/>
                </a:solidFill>
              </a:defRPr>
            </a:pPr>
            <a:r>
              <a:t>Mobile application</a:t>
            </a:r>
          </a:p>
          <a:p>
            <a:pPr>
              <a:defRPr sz="2000">
                <a:solidFill>
                  <a:srgbClr val="282828"/>
                </a:solidFill>
              </a:defRPr>
            </a:pPr>
            <a:r>
              <a:t>AI-based analytics</a:t>
            </a:r>
          </a:p>
          <a:p>
            <a:pPr>
              <a:defRPr sz="2000">
                <a:solidFill>
                  <a:srgbClr val="282828"/>
                </a:solidFill>
              </a:defRPr>
            </a:pPr>
            <a:r>
              <a:t>Cloud deployment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0B5C3-A3DF-0EB1-900E-DF484128722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99F2CF6-0E11-5442-BD5F-903AA6A7935A}"/>
              </a:ext>
            </a:extLst>
          </p:cNvPr>
          <p:cNvSpPr>
            <a:spLocks noGrp="1"/>
          </p:cNvSpPr>
          <p:nvPr>
            <p:ph idx="1"/>
          </p:nvPr>
        </p:nvSpPr>
        <p:spPr/>
        <p:txBody>
          <a:bodyPr>
            <a:normAutofit/>
          </a:bodyPr>
          <a:lstStyle/>
          <a:p>
            <a:pPr marL="0" indent="0" algn="ctr">
              <a:buNone/>
            </a:pPr>
            <a:endParaRPr lang="en-US" sz="8000" b="1" dirty="0"/>
          </a:p>
          <a:p>
            <a:pPr marL="0" indent="0" algn="ctr">
              <a:buNone/>
            </a:pPr>
            <a:r>
              <a:rPr lang="en-US" sz="8000" b="1" dirty="0"/>
              <a:t>THANK YOU</a:t>
            </a:r>
            <a:endParaRPr lang="en-IN" sz="8000" b="1" dirty="0"/>
          </a:p>
        </p:txBody>
      </p:sp>
    </p:spTree>
    <p:extLst>
      <p:ext uri="{BB962C8B-B14F-4D97-AF65-F5344CB8AC3E}">
        <p14:creationId xmlns:p14="http://schemas.microsoft.com/office/powerpoint/2010/main" val="21270500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30</TotalTime>
  <Words>325</Words>
  <Application>Microsoft Office PowerPoint</Application>
  <PresentationFormat>On-screen Show (4:3)</PresentationFormat>
  <Paragraphs>66</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Abstract</vt:lpstr>
      <vt:lpstr>Introduction</vt:lpstr>
      <vt:lpstr>Objectives</vt:lpstr>
      <vt:lpstr>Scope</vt:lpstr>
      <vt:lpstr>Proposed System</vt:lpstr>
      <vt:lpstr>System Architecture</vt:lpstr>
      <vt:lpstr>Database Design</vt:lpstr>
      <vt:lpstr>Result Analysis</vt:lpstr>
      <vt:lpstr>Conclusion</vt:lpstr>
      <vt:lpstr>Future Scope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shraddha bansode</cp:lastModifiedBy>
  <cp:revision>5</cp:revision>
  <dcterms:created xsi:type="dcterms:W3CDTF">2013-01-27T09:14:16Z</dcterms:created>
  <dcterms:modified xsi:type="dcterms:W3CDTF">2026-04-18T11:16:37Z</dcterms:modified>
  <cp:category/>
</cp:coreProperties>
</file>